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alibri (MS) Bold" charset="1" panose="020F0702030404030204"/>
      <p:regular r:id="rId12"/>
    </p:embeddedFont>
    <p:embeddedFont>
      <p:font typeface="Canva Sans Bold" charset="1" panose="020B0803030501040103"/>
      <p:regular r:id="rId13"/>
    </p:embeddedFont>
    <p:embeddedFont>
      <p:font typeface="Canva Sans" charset="1" panose="020B0503030501040103"/>
      <p:regular r:id="rId14"/>
    </p:embeddedFont>
    <p:embeddedFont>
      <p:font typeface="Calibri (MS)" charset="1" panose="020F050202020403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-7144"/>
            <a:ext cx="18301830" cy="10301288"/>
            <a:chOff x="0" y="0"/>
            <a:chExt cx="24402440" cy="13735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35050"/>
            </a:xfrm>
            <a:custGeom>
              <a:avLst/>
              <a:gdLst/>
              <a:ahLst/>
              <a:cxnLst/>
              <a:rect r="r" b="b" t="t" l="l"/>
              <a:pathLst>
                <a:path h="1373505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35050"/>
                  </a:lnTo>
                  <a:lnTo>
                    <a:pt x="0" y="13735050"/>
                  </a:lnTo>
                  <a:close/>
                </a:path>
              </a:pathLst>
            </a:custGeom>
            <a:solidFill>
              <a:srgbClr val="0B0F17"/>
            </a:solidFill>
            <a:ln w="14288" cap="sq">
              <a:solidFill>
                <a:srgbClr val="0B0F17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2131781" y="914400"/>
            <a:ext cx="1394073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Omnichannel Retail &amp; Customer Intelligence Hub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69894" y="2711666"/>
            <a:ext cx="4748212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DMW MINI-PROJECT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84044" y="5076825"/>
            <a:ext cx="6919912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Devansh Dhawade - 24101C0069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Prerna Chavan - 24101C0072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Anagha Vichare - 24101C0070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-7144"/>
            <a:ext cx="18301830" cy="10301288"/>
            <a:chOff x="0" y="0"/>
            <a:chExt cx="24402440" cy="13735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35050"/>
            </a:xfrm>
            <a:custGeom>
              <a:avLst/>
              <a:gdLst/>
              <a:ahLst/>
              <a:cxnLst/>
              <a:rect r="r" b="b" t="t" l="l"/>
              <a:pathLst>
                <a:path h="1373505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35050"/>
                  </a:lnTo>
                  <a:lnTo>
                    <a:pt x="0" y="13735050"/>
                  </a:lnTo>
                  <a:close/>
                </a:path>
              </a:pathLst>
            </a:custGeom>
            <a:solidFill>
              <a:srgbClr val="0B0F17"/>
            </a:solidFill>
            <a:ln w="14288" cap="sq">
              <a:solidFill>
                <a:srgbClr val="0B0F17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97280" y="520065"/>
            <a:ext cx="16092983" cy="153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60A5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PAGE 1 • STRATEGIC CONTEXT</a:t>
            </a:r>
          </a:p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&amp; Research Gap: The Modern Retail Dilemma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77736" y="678656"/>
            <a:ext cx="974407" cy="494347"/>
            <a:chOff x="0" y="0"/>
            <a:chExt cx="1299210" cy="6591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9210" cy="659130"/>
            </a:xfrm>
            <a:custGeom>
              <a:avLst/>
              <a:gdLst/>
              <a:ahLst/>
              <a:cxnLst/>
              <a:rect r="r" b="b" t="t" l="l"/>
              <a:pathLst>
                <a:path h="659130" w="12992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1189355" y="0"/>
                  </a:lnTo>
                  <a:cubicBezTo>
                    <a:pt x="1250061" y="0"/>
                    <a:pt x="1299210" y="49149"/>
                    <a:pt x="1299210" y="109855"/>
                  </a:cubicBezTo>
                  <a:lnTo>
                    <a:pt x="1299210" y="549275"/>
                  </a:lnTo>
                  <a:cubicBezTo>
                    <a:pt x="1299210" y="609981"/>
                    <a:pt x="1250061" y="659130"/>
                    <a:pt x="1189355" y="659130"/>
                  </a:cubicBezTo>
                  <a:lnTo>
                    <a:pt x="109855" y="659130"/>
                  </a:lnTo>
                  <a:cubicBezTo>
                    <a:pt x="49149" y="659130"/>
                    <a:pt x="0" y="609981"/>
                    <a:pt x="0" y="549275"/>
                  </a:cubicBezTo>
                  <a:close/>
                </a:path>
              </a:pathLst>
            </a:custGeom>
            <a:solidFill>
              <a:srgbClr val="141B29"/>
            </a:solidFill>
            <a:ln w="14288" cap="sq">
              <a:solidFill>
                <a:srgbClr val="26324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299210" cy="687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60A5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1/5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5850" y="2320290"/>
            <a:ext cx="5015484" cy="7155180"/>
            <a:chOff x="0" y="0"/>
            <a:chExt cx="6687312" cy="9540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87312" cy="9540240"/>
            </a:xfrm>
            <a:custGeom>
              <a:avLst/>
              <a:gdLst/>
              <a:ahLst/>
              <a:cxnLst/>
              <a:rect r="r" b="b" t="t" l="l"/>
              <a:pathLst>
                <a:path h="9540240" w="6687312">
                  <a:moveTo>
                    <a:pt x="0" y="1114552"/>
                  </a:moveTo>
                  <a:cubicBezTo>
                    <a:pt x="0" y="498983"/>
                    <a:pt x="498983" y="0"/>
                    <a:pt x="1114552" y="0"/>
                  </a:cubicBezTo>
                  <a:lnTo>
                    <a:pt x="5572760" y="0"/>
                  </a:lnTo>
                  <a:cubicBezTo>
                    <a:pt x="6188329" y="0"/>
                    <a:pt x="6687312" y="498983"/>
                    <a:pt x="6687312" y="1114552"/>
                  </a:cubicBezTo>
                  <a:lnTo>
                    <a:pt x="6687312" y="8425688"/>
                  </a:lnTo>
                  <a:cubicBezTo>
                    <a:pt x="6687312" y="9041257"/>
                    <a:pt x="6188329" y="9540240"/>
                    <a:pt x="5572760" y="9540240"/>
                  </a:cubicBezTo>
                  <a:lnTo>
                    <a:pt x="1114552" y="9540240"/>
                  </a:lnTo>
                  <a:cubicBezTo>
                    <a:pt x="498983" y="9540240"/>
                    <a:pt x="0" y="9041257"/>
                    <a:pt x="0" y="8425688"/>
                  </a:cubicBezTo>
                  <a:close/>
                </a:path>
              </a:pathLst>
            </a:custGeom>
            <a:solidFill>
              <a:srgbClr val="141B29"/>
            </a:solidFill>
            <a:ln w="22860" cap="sq">
              <a:solidFill>
                <a:srgbClr val="26324D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371600" y="2567940"/>
            <a:ext cx="4443984" cy="662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60A5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Problem Understanding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Explosion of Omnichannel Data: </a:t>
            </a: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Modern retailers capture massive transaction volumes across web, mobile, and in-store channels daily.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Siloed Operational Databases: </a:t>
            </a: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OLTP systems (MySQL/PostgreSQL) are optimized solely for high-frequency CRUD transactions, not multidimensional analytical aggregations.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The 'Data Rich, Insight Poor' Paradox: </a:t>
            </a: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Retailers possess millions of rows of transaction records but lack the automated infrastructure to forecast sales, identify churn risks, or bundle high-affinity products in real time.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627114" y="2320290"/>
            <a:ext cx="5015484" cy="7155180"/>
            <a:chOff x="0" y="0"/>
            <a:chExt cx="6687312" cy="95402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87312" cy="9540240"/>
            </a:xfrm>
            <a:custGeom>
              <a:avLst/>
              <a:gdLst/>
              <a:ahLst/>
              <a:cxnLst/>
              <a:rect r="r" b="b" t="t" l="l"/>
              <a:pathLst>
                <a:path h="9540240" w="6687312">
                  <a:moveTo>
                    <a:pt x="0" y="1114552"/>
                  </a:moveTo>
                  <a:cubicBezTo>
                    <a:pt x="0" y="498983"/>
                    <a:pt x="498983" y="0"/>
                    <a:pt x="1114552" y="0"/>
                  </a:cubicBezTo>
                  <a:lnTo>
                    <a:pt x="5572760" y="0"/>
                  </a:lnTo>
                  <a:cubicBezTo>
                    <a:pt x="6188329" y="0"/>
                    <a:pt x="6687312" y="498983"/>
                    <a:pt x="6687312" y="1114552"/>
                  </a:cubicBezTo>
                  <a:lnTo>
                    <a:pt x="6687312" y="8425688"/>
                  </a:lnTo>
                  <a:cubicBezTo>
                    <a:pt x="6687312" y="9041257"/>
                    <a:pt x="6188329" y="9540240"/>
                    <a:pt x="5572760" y="9540240"/>
                  </a:cubicBezTo>
                  <a:lnTo>
                    <a:pt x="1114552" y="9540240"/>
                  </a:lnTo>
                  <a:cubicBezTo>
                    <a:pt x="498983" y="9540240"/>
                    <a:pt x="0" y="9041257"/>
                    <a:pt x="0" y="8425688"/>
                  </a:cubicBezTo>
                  <a:close/>
                </a:path>
              </a:pathLst>
            </a:custGeom>
            <a:solidFill>
              <a:srgbClr val="141B29"/>
            </a:solidFill>
            <a:ln w="22860" cap="sq">
              <a:solidFill>
                <a:srgbClr val="26324D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912864" y="2567940"/>
            <a:ext cx="4443984" cy="662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Existing Solutions &amp; Gap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Monolithic BI Platforms: </a:t>
            </a: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Tools like PowerBI and Tableau are passive visualization viewers that operate disconnected from live transactional storefronts.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Expensive Enterprise SaaS: </a:t>
            </a: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Solutions like Salesforce Commerce Cloud require prohibitive licensing, proprietary ecosystems, and complex integrations inaccessible to SMBs.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The Academic-Operational Disconnect: </a:t>
            </a: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Most research prototypes evaluate ML algorithms in isolation on static Jupyter notebooks without closing the operational feedback loop into real e-commerce user journeys.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168378" y="2320290"/>
            <a:ext cx="5015484" cy="7155180"/>
            <a:chOff x="0" y="0"/>
            <a:chExt cx="6687312" cy="9540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87312" cy="9540240"/>
            </a:xfrm>
            <a:custGeom>
              <a:avLst/>
              <a:gdLst/>
              <a:ahLst/>
              <a:cxnLst/>
              <a:rect r="r" b="b" t="t" l="l"/>
              <a:pathLst>
                <a:path h="9540240" w="6687312">
                  <a:moveTo>
                    <a:pt x="0" y="1114552"/>
                  </a:moveTo>
                  <a:cubicBezTo>
                    <a:pt x="0" y="498983"/>
                    <a:pt x="498983" y="0"/>
                    <a:pt x="1114552" y="0"/>
                  </a:cubicBezTo>
                  <a:lnTo>
                    <a:pt x="5572760" y="0"/>
                  </a:lnTo>
                  <a:cubicBezTo>
                    <a:pt x="6188329" y="0"/>
                    <a:pt x="6687312" y="498983"/>
                    <a:pt x="6687312" y="1114552"/>
                  </a:cubicBezTo>
                  <a:lnTo>
                    <a:pt x="6687312" y="8425688"/>
                  </a:lnTo>
                  <a:cubicBezTo>
                    <a:pt x="6687312" y="9041257"/>
                    <a:pt x="6188329" y="9540240"/>
                    <a:pt x="5572760" y="9540240"/>
                  </a:cubicBezTo>
                  <a:lnTo>
                    <a:pt x="1114552" y="9540240"/>
                  </a:lnTo>
                  <a:cubicBezTo>
                    <a:pt x="498983" y="9540240"/>
                    <a:pt x="0" y="9041257"/>
                    <a:pt x="0" y="8425688"/>
                  </a:cubicBezTo>
                  <a:close/>
                </a:path>
              </a:pathLst>
            </a:custGeom>
            <a:solidFill>
              <a:srgbClr val="141B29"/>
            </a:solidFill>
            <a:ln w="22860" cap="sq">
              <a:solidFill>
                <a:srgbClr val="26324D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454128" y="2567940"/>
            <a:ext cx="4443984" cy="662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0B98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Urgency &amp; Strategic Need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Preventing Inventory Capital Lock: </a:t>
            </a: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Uninformed demand forecasting leads to dead stock write-downs or costly stockouts during peak seasonal surges.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High Customer Acquisition Costs (CAC): </a:t>
            </a: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Acquiring a new shopper is 5-7x more costly than retaining an existing customer. Proactive retention classification is vital.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Maximizing Average Order Value (AOV): </a:t>
            </a: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Without automated market basket association rules, retailers miss significant cross-sell lift that drives profitability.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Unified Closed-Loop Imperative: </a:t>
            </a:r>
            <a:r>
              <a:rPr lang="en-US" sz="165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Bridging OLTP transactional execution with OLAP machine learning unlocks self-optimizing retail operations.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-7144"/>
            <a:ext cx="18301830" cy="10301288"/>
            <a:chOff x="0" y="0"/>
            <a:chExt cx="24402440" cy="13735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35050"/>
            </a:xfrm>
            <a:custGeom>
              <a:avLst/>
              <a:gdLst/>
              <a:ahLst/>
              <a:cxnLst/>
              <a:rect r="r" b="b" t="t" l="l"/>
              <a:pathLst>
                <a:path h="1373505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35050"/>
                  </a:lnTo>
                  <a:lnTo>
                    <a:pt x="0" y="13735050"/>
                  </a:lnTo>
                  <a:close/>
                </a:path>
              </a:pathLst>
            </a:custGeom>
            <a:solidFill>
              <a:srgbClr val="0B0F17"/>
            </a:solidFill>
            <a:ln w="14288" cap="sq">
              <a:solidFill>
                <a:srgbClr val="0B0F17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97280" y="520065"/>
            <a:ext cx="16092983" cy="153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60A5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PAGE 2 • ARCHITECTURE &amp; INNOVATION</a:t>
            </a:r>
          </a:p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Solution: Dual-Core Omnichannel Intelligence Hub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77736" y="678656"/>
            <a:ext cx="974407" cy="494347"/>
            <a:chOff x="0" y="0"/>
            <a:chExt cx="1299210" cy="6591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9210" cy="659130"/>
            </a:xfrm>
            <a:custGeom>
              <a:avLst/>
              <a:gdLst/>
              <a:ahLst/>
              <a:cxnLst/>
              <a:rect r="r" b="b" t="t" l="l"/>
              <a:pathLst>
                <a:path h="659130" w="12992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1189355" y="0"/>
                  </a:lnTo>
                  <a:cubicBezTo>
                    <a:pt x="1250061" y="0"/>
                    <a:pt x="1299210" y="49149"/>
                    <a:pt x="1299210" y="109855"/>
                  </a:cubicBezTo>
                  <a:lnTo>
                    <a:pt x="1299210" y="549275"/>
                  </a:lnTo>
                  <a:cubicBezTo>
                    <a:pt x="1299210" y="609981"/>
                    <a:pt x="1250061" y="659130"/>
                    <a:pt x="1189355" y="659130"/>
                  </a:cubicBezTo>
                  <a:lnTo>
                    <a:pt x="109855" y="659130"/>
                  </a:lnTo>
                  <a:cubicBezTo>
                    <a:pt x="49149" y="659130"/>
                    <a:pt x="0" y="609981"/>
                    <a:pt x="0" y="549275"/>
                  </a:cubicBezTo>
                  <a:close/>
                </a:path>
              </a:pathLst>
            </a:custGeom>
            <a:solidFill>
              <a:srgbClr val="141B29"/>
            </a:solidFill>
            <a:ln w="14288" cap="sq">
              <a:solidFill>
                <a:srgbClr val="26324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299210" cy="687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60A5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2/5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5850" y="2320290"/>
            <a:ext cx="16115843" cy="1805940"/>
            <a:chOff x="0" y="0"/>
            <a:chExt cx="21487790" cy="2407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87764" cy="2407920"/>
            </a:xfrm>
            <a:custGeom>
              <a:avLst/>
              <a:gdLst/>
              <a:ahLst/>
              <a:cxnLst/>
              <a:rect r="r" b="b" t="t" l="l"/>
              <a:pathLst>
                <a:path h="2407920" w="21487764">
                  <a:moveTo>
                    <a:pt x="0" y="401320"/>
                  </a:moveTo>
                  <a:cubicBezTo>
                    <a:pt x="0" y="179705"/>
                    <a:pt x="179705" y="0"/>
                    <a:pt x="401320" y="0"/>
                  </a:cubicBezTo>
                  <a:lnTo>
                    <a:pt x="21086445" y="0"/>
                  </a:lnTo>
                  <a:cubicBezTo>
                    <a:pt x="21308059" y="0"/>
                    <a:pt x="21487764" y="179705"/>
                    <a:pt x="21487764" y="401320"/>
                  </a:cubicBezTo>
                  <a:lnTo>
                    <a:pt x="21487764" y="2006600"/>
                  </a:lnTo>
                  <a:cubicBezTo>
                    <a:pt x="21487764" y="2228215"/>
                    <a:pt x="21308059" y="2407920"/>
                    <a:pt x="21086445" y="2407920"/>
                  </a:cubicBezTo>
                  <a:lnTo>
                    <a:pt x="401320" y="2407920"/>
                  </a:lnTo>
                  <a:cubicBezTo>
                    <a:pt x="179705" y="2407920"/>
                    <a:pt x="0" y="2228215"/>
                    <a:pt x="0" y="2006600"/>
                  </a:cubicBezTo>
                  <a:close/>
                </a:path>
              </a:pathLst>
            </a:custGeom>
            <a:solidFill>
              <a:srgbClr val="141B29"/>
            </a:solidFill>
            <a:ln w="22860" cap="sq">
              <a:solidFill>
                <a:srgbClr val="26324D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440180" y="2480310"/>
            <a:ext cx="15407183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60A5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Solution Overview: A Synchronized Operational &amp; Analytical Platform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The Hub combines a customer-facing e-commerce storefront (FlipStore) with an automated ETL pipeline that continuously feeds a Star Schema Data Warehouse. This warehouse powers four specialized machine learning engines whose outputs directly feed an Executive Intelligence Dashboard while closing the loop back into real-time storefront personalization.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85850" y="4377690"/>
            <a:ext cx="5015484" cy="5234940"/>
            <a:chOff x="0" y="0"/>
            <a:chExt cx="6687312" cy="6979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87312" cy="6979920"/>
            </a:xfrm>
            <a:custGeom>
              <a:avLst/>
              <a:gdLst/>
              <a:ahLst/>
              <a:cxnLst/>
              <a:rect r="r" b="b" t="t" l="l"/>
              <a:pathLst>
                <a:path h="6979920" w="6687312">
                  <a:moveTo>
                    <a:pt x="0" y="1114552"/>
                  </a:moveTo>
                  <a:cubicBezTo>
                    <a:pt x="0" y="498983"/>
                    <a:pt x="498983" y="0"/>
                    <a:pt x="1114552" y="0"/>
                  </a:cubicBezTo>
                  <a:lnTo>
                    <a:pt x="5572760" y="0"/>
                  </a:lnTo>
                  <a:cubicBezTo>
                    <a:pt x="6188329" y="0"/>
                    <a:pt x="6687312" y="498983"/>
                    <a:pt x="6687312" y="1114552"/>
                  </a:cubicBezTo>
                  <a:lnTo>
                    <a:pt x="6687312" y="5865368"/>
                  </a:lnTo>
                  <a:cubicBezTo>
                    <a:pt x="6687312" y="6480937"/>
                    <a:pt x="6188329" y="6979920"/>
                    <a:pt x="5572760" y="6979920"/>
                  </a:cubicBezTo>
                  <a:lnTo>
                    <a:pt x="1114552" y="6979920"/>
                  </a:lnTo>
                  <a:cubicBezTo>
                    <a:pt x="498983" y="6979920"/>
                    <a:pt x="0" y="6480937"/>
                    <a:pt x="0" y="5865368"/>
                  </a:cubicBezTo>
                  <a:close/>
                </a:path>
              </a:pathLst>
            </a:custGeom>
            <a:solidFill>
              <a:srgbClr val="141B29"/>
            </a:solidFill>
            <a:ln w="22860" cap="sq">
              <a:solidFill>
                <a:srgbClr val="26324D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71600" y="4537710"/>
            <a:ext cx="4443984" cy="485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A855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Innovation &amp; Novel Approach</a:t>
            </a:r>
          </a:p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Closed-Loop Feedback: </a:t>
            </a:r>
            <a:r>
              <a:rPr lang="en-US" sz="157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ML models do not sit idle in reports; Apriori rules dynamically generate storefront bundle widgets with automated 15% discounts.</a:t>
            </a:r>
          </a:p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Dual-Database Topology: </a:t>
            </a:r>
            <a:r>
              <a:rPr lang="en-US" sz="157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Isolates operational e-commerce transactions (OLTP) from heavy analytic queries on the Star Schema (OLAP), ensuring sub-second response times.</a:t>
            </a:r>
          </a:p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Resilient Fallback Design: </a:t>
            </a:r>
            <a:r>
              <a:rPr lang="en-US" sz="157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Zero single-point-of-failure; high-fidelity offline fallbacks ensure 100% demo uptime even if remote database services are offline.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627114" y="4377690"/>
            <a:ext cx="5015484" cy="5234940"/>
            <a:chOff x="0" y="0"/>
            <a:chExt cx="6687312" cy="6979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87312" cy="6979920"/>
            </a:xfrm>
            <a:custGeom>
              <a:avLst/>
              <a:gdLst/>
              <a:ahLst/>
              <a:cxnLst/>
              <a:rect r="r" b="b" t="t" l="l"/>
              <a:pathLst>
                <a:path h="6979920" w="6687312">
                  <a:moveTo>
                    <a:pt x="0" y="1114552"/>
                  </a:moveTo>
                  <a:cubicBezTo>
                    <a:pt x="0" y="498983"/>
                    <a:pt x="498983" y="0"/>
                    <a:pt x="1114552" y="0"/>
                  </a:cubicBezTo>
                  <a:lnTo>
                    <a:pt x="5572760" y="0"/>
                  </a:lnTo>
                  <a:cubicBezTo>
                    <a:pt x="6188329" y="0"/>
                    <a:pt x="6687312" y="498983"/>
                    <a:pt x="6687312" y="1114552"/>
                  </a:cubicBezTo>
                  <a:lnTo>
                    <a:pt x="6687312" y="5865368"/>
                  </a:lnTo>
                  <a:cubicBezTo>
                    <a:pt x="6687312" y="6480937"/>
                    <a:pt x="6188329" y="6979920"/>
                    <a:pt x="5572760" y="6979920"/>
                  </a:cubicBezTo>
                  <a:lnTo>
                    <a:pt x="1114552" y="6979920"/>
                  </a:lnTo>
                  <a:cubicBezTo>
                    <a:pt x="498983" y="6979920"/>
                    <a:pt x="0" y="6480937"/>
                    <a:pt x="0" y="5865368"/>
                  </a:cubicBezTo>
                  <a:close/>
                </a:path>
              </a:pathLst>
            </a:custGeom>
            <a:solidFill>
              <a:srgbClr val="141B29"/>
            </a:solidFill>
            <a:ln w="22860" cap="sq">
              <a:solidFill>
                <a:srgbClr val="26324D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6912864" y="4537710"/>
            <a:ext cx="4443984" cy="485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60A5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Storefront Key Features (/shop)</a:t>
            </a:r>
          </a:p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Auth Portal &amp; 1-Click Demo: </a:t>
            </a:r>
            <a:r>
              <a:rPr lang="en-US" sz="157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Glassmorphic login with 1-click VIP and Admin presets, plus password strength metering.</a:t>
            </a:r>
          </a:p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Smart Dynamic Catalog: </a:t>
            </a:r>
            <a:r>
              <a:rPr lang="en-US" sz="157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Multi-criteria category filters, real-time stock badges, and 3-angle studio gallery switcher.</a:t>
            </a:r>
          </a:p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Apriori Merchandising Strips: </a:t>
            </a:r>
            <a:r>
              <a:rPr lang="en-US" sz="157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Instant 1-click bundle additions with cross-sell affinity savings.</a:t>
            </a:r>
          </a:p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Cart &amp; Checkout Engine: </a:t>
            </a:r>
            <a:r>
              <a:rPr lang="en-US" sz="157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Live $150 free shipping progress tracker, promo codes (VIP15, FREESHIP), and order receipt modal.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168378" y="4377690"/>
            <a:ext cx="5015484" cy="5234940"/>
            <a:chOff x="0" y="0"/>
            <a:chExt cx="6687312" cy="6979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87312" cy="6979920"/>
            </a:xfrm>
            <a:custGeom>
              <a:avLst/>
              <a:gdLst/>
              <a:ahLst/>
              <a:cxnLst/>
              <a:rect r="r" b="b" t="t" l="l"/>
              <a:pathLst>
                <a:path h="6979920" w="6687312">
                  <a:moveTo>
                    <a:pt x="0" y="1114552"/>
                  </a:moveTo>
                  <a:cubicBezTo>
                    <a:pt x="0" y="498983"/>
                    <a:pt x="498983" y="0"/>
                    <a:pt x="1114552" y="0"/>
                  </a:cubicBezTo>
                  <a:lnTo>
                    <a:pt x="5572760" y="0"/>
                  </a:lnTo>
                  <a:cubicBezTo>
                    <a:pt x="6188329" y="0"/>
                    <a:pt x="6687312" y="498983"/>
                    <a:pt x="6687312" y="1114552"/>
                  </a:cubicBezTo>
                  <a:lnTo>
                    <a:pt x="6687312" y="5865368"/>
                  </a:lnTo>
                  <a:cubicBezTo>
                    <a:pt x="6687312" y="6480937"/>
                    <a:pt x="6188329" y="6979920"/>
                    <a:pt x="5572760" y="6979920"/>
                  </a:cubicBezTo>
                  <a:lnTo>
                    <a:pt x="1114552" y="6979920"/>
                  </a:lnTo>
                  <a:cubicBezTo>
                    <a:pt x="498983" y="6979920"/>
                    <a:pt x="0" y="6480937"/>
                    <a:pt x="0" y="5865368"/>
                  </a:cubicBezTo>
                  <a:close/>
                </a:path>
              </a:pathLst>
            </a:custGeom>
            <a:solidFill>
              <a:srgbClr val="141B29"/>
            </a:solidFill>
            <a:ln w="22860" cap="sq">
              <a:solidFill>
                <a:srgbClr val="26324D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454128" y="4537710"/>
            <a:ext cx="4443984" cy="485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0B98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Executive Hub Features (/admin)</a:t>
            </a:r>
          </a:p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Interactive What-If Forecaster: </a:t>
            </a:r>
            <a:r>
              <a:rPr lang="en-US" sz="157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Revenue Predictor with real-time sliders for fiscal quarter, volume, and promo discounts.</a:t>
            </a:r>
          </a:p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RFM Customer Segmenter: </a:t>
            </a:r>
            <a:r>
              <a:rPr lang="en-US" sz="157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Interactive 2D point cloud with live centroid distance calculator for instant marketing playbooks.</a:t>
            </a:r>
          </a:p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Model Benchmark Faceoff: </a:t>
            </a:r>
            <a:r>
              <a:rPr lang="en-US" sz="157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Decision Tree (94.6% Acc) vs. Naive Bayes (82.4% Acc) with confusion matrices &amp; selection rationale.</a:t>
            </a:r>
          </a:p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Market Basket Merchandising: </a:t>
            </a:r>
            <a:r>
              <a:rPr lang="en-US" sz="1575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Interactive Lift/Confidence sliders (Lift up to 4.82x) and simulated cross-sell bundle tester.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-7144"/>
            <a:ext cx="18301830" cy="10301288"/>
            <a:chOff x="0" y="0"/>
            <a:chExt cx="24402440" cy="13735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35050"/>
            </a:xfrm>
            <a:custGeom>
              <a:avLst/>
              <a:gdLst/>
              <a:ahLst/>
              <a:cxnLst/>
              <a:rect r="r" b="b" t="t" l="l"/>
              <a:pathLst>
                <a:path h="1373505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35050"/>
                  </a:lnTo>
                  <a:lnTo>
                    <a:pt x="0" y="13735050"/>
                  </a:lnTo>
                  <a:close/>
                </a:path>
              </a:pathLst>
            </a:custGeom>
            <a:solidFill>
              <a:srgbClr val="0B0F17"/>
            </a:solidFill>
            <a:ln w="14288" cap="sq">
              <a:solidFill>
                <a:srgbClr val="0B0F17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97280" y="520065"/>
            <a:ext cx="16092983" cy="153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60A5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PAGE 3 • TECHNICAL ARCHITECTURE</a:t>
            </a:r>
          </a:p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Architecture: End-to-End Operational &amp; Analytical Flow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77736" y="678656"/>
            <a:ext cx="974407" cy="494347"/>
            <a:chOff x="0" y="0"/>
            <a:chExt cx="1299210" cy="6591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9210" cy="659130"/>
            </a:xfrm>
            <a:custGeom>
              <a:avLst/>
              <a:gdLst/>
              <a:ahLst/>
              <a:cxnLst/>
              <a:rect r="r" b="b" t="t" l="l"/>
              <a:pathLst>
                <a:path h="659130" w="12992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1189355" y="0"/>
                  </a:lnTo>
                  <a:cubicBezTo>
                    <a:pt x="1250061" y="0"/>
                    <a:pt x="1299210" y="49149"/>
                    <a:pt x="1299210" y="109855"/>
                  </a:cubicBezTo>
                  <a:lnTo>
                    <a:pt x="1299210" y="549275"/>
                  </a:lnTo>
                  <a:cubicBezTo>
                    <a:pt x="1299210" y="609981"/>
                    <a:pt x="1250061" y="659130"/>
                    <a:pt x="1189355" y="659130"/>
                  </a:cubicBezTo>
                  <a:lnTo>
                    <a:pt x="109855" y="659130"/>
                  </a:lnTo>
                  <a:cubicBezTo>
                    <a:pt x="49149" y="659130"/>
                    <a:pt x="0" y="609981"/>
                    <a:pt x="0" y="549275"/>
                  </a:cubicBezTo>
                  <a:close/>
                </a:path>
              </a:pathLst>
            </a:custGeom>
            <a:solidFill>
              <a:srgbClr val="141B29"/>
            </a:solidFill>
            <a:ln w="14288" cap="sq">
              <a:solidFill>
                <a:srgbClr val="26324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299210" cy="687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60A5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3/5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5850" y="2320290"/>
            <a:ext cx="3835908" cy="6195060"/>
            <a:chOff x="0" y="0"/>
            <a:chExt cx="5114544" cy="8260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14544" cy="8260080"/>
            </a:xfrm>
            <a:custGeom>
              <a:avLst/>
              <a:gdLst/>
              <a:ahLst/>
              <a:cxnLst/>
              <a:rect r="r" b="b" t="t" l="l"/>
              <a:pathLst>
                <a:path h="8260080" w="5114544">
                  <a:moveTo>
                    <a:pt x="0" y="852424"/>
                  </a:moveTo>
                  <a:cubicBezTo>
                    <a:pt x="0" y="381635"/>
                    <a:pt x="381635" y="0"/>
                    <a:pt x="852424" y="0"/>
                  </a:cubicBezTo>
                  <a:lnTo>
                    <a:pt x="4262120" y="0"/>
                  </a:lnTo>
                  <a:cubicBezTo>
                    <a:pt x="4732909" y="0"/>
                    <a:pt x="5114544" y="381635"/>
                    <a:pt x="5114544" y="852424"/>
                  </a:cubicBezTo>
                  <a:lnTo>
                    <a:pt x="5114544" y="7407656"/>
                  </a:lnTo>
                  <a:cubicBezTo>
                    <a:pt x="5114544" y="7878445"/>
                    <a:pt x="4732909" y="8260080"/>
                    <a:pt x="4262120" y="8260080"/>
                  </a:cubicBezTo>
                  <a:lnTo>
                    <a:pt x="852424" y="8260080"/>
                  </a:lnTo>
                  <a:cubicBezTo>
                    <a:pt x="381635" y="8260080"/>
                    <a:pt x="0" y="7878445"/>
                    <a:pt x="0" y="7407656"/>
                  </a:cubicBezTo>
                  <a:close/>
                </a:path>
              </a:pathLst>
            </a:custGeom>
            <a:solidFill>
              <a:srgbClr val="141B29"/>
            </a:solidFill>
            <a:ln w="22860" cap="sq">
              <a:solidFill>
                <a:srgbClr val="60A5FA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303020" y="2508885"/>
            <a:ext cx="3401568" cy="578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60A5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LAYER 1: OPERATIONAL STOREFRONT (OLTP)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React 19 + TypeScript + Tailwind CSS Storefront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User Management &amp; 1-Click Role Auth (/)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Dynamic Product Catalog &amp; 3-Angle Studio Viewer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Cart &amp; Checkout Engine with Promo Code Voucher System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RESTful API Gateway (Flask Blueprint :5000/api/ecommerce)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MySQL Operational Database (Users, Products, Orders)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173218" y="2320290"/>
            <a:ext cx="3835908" cy="6195060"/>
            <a:chOff x="0" y="0"/>
            <a:chExt cx="5114544" cy="826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14544" cy="8260080"/>
            </a:xfrm>
            <a:custGeom>
              <a:avLst/>
              <a:gdLst/>
              <a:ahLst/>
              <a:cxnLst/>
              <a:rect r="r" b="b" t="t" l="l"/>
              <a:pathLst>
                <a:path h="8260080" w="5114544">
                  <a:moveTo>
                    <a:pt x="0" y="852424"/>
                  </a:moveTo>
                  <a:cubicBezTo>
                    <a:pt x="0" y="381635"/>
                    <a:pt x="381635" y="0"/>
                    <a:pt x="852424" y="0"/>
                  </a:cubicBezTo>
                  <a:lnTo>
                    <a:pt x="4262120" y="0"/>
                  </a:lnTo>
                  <a:cubicBezTo>
                    <a:pt x="4732909" y="0"/>
                    <a:pt x="5114544" y="381635"/>
                    <a:pt x="5114544" y="852424"/>
                  </a:cubicBezTo>
                  <a:lnTo>
                    <a:pt x="5114544" y="7407656"/>
                  </a:lnTo>
                  <a:cubicBezTo>
                    <a:pt x="5114544" y="7878445"/>
                    <a:pt x="4732909" y="8260080"/>
                    <a:pt x="4262120" y="8260080"/>
                  </a:cubicBezTo>
                  <a:lnTo>
                    <a:pt x="852424" y="8260080"/>
                  </a:lnTo>
                  <a:cubicBezTo>
                    <a:pt x="381635" y="8260080"/>
                    <a:pt x="0" y="7878445"/>
                    <a:pt x="0" y="7407656"/>
                  </a:cubicBezTo>
                  <a:close/>
                </a:path>
              </a:pathLst>
            </a:custGeom>
            <a:solidFill>
              <a:srgbClr val="141B29"/>
            </a:solidFill>
            <a:ln w="22860" cap="sq">
              <a:solidFill>
                <a:srgbClr val="F59E0B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5390388" y="2508885"/>
            <a:ext cx="3401568" cy="578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LAYER 2: DATA ENGINEERING &amp; ETL PIPELINE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Raw Transactional Data (Online Retail.xlsx / DB)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Automated Python ETL Pipeline (etl/data_loader.py)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Data Cleansing: Null removal, datetime parsing, anomaly filter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Star Schema Data Warehouse (retail_hub):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1F5F9"/>
                </a:solidFill>
                <a:latin typeface="Calibri (MS)"/>
                <a:ea typeface="Calibri (MS)"/>
                <a:cs typeface="Calibri (MS)"/>
                <a:sym typeface="Calibri (MS)"/>
              </a:rPr>
              <a:t>     • Central Sales Fact Table (Quantity, UnitPrice, Revenue)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     • Dimension Tables: Product, Customer, Time, Location, Payment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60586" y="2320290"/>
            <a:ext cx="3835908" cy="6195060"/>
            <a:chOff x="0" y="0"/>
            <a:chExt cx="5114544" cy="826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14544" cy="8260080"/>
            </a:xfrm>
            <a:custGeom>
              <a:avLst/>
              <a:gdLst/>
              <a:ahLst/>
              <a:cxnLst/>
              <a:rect r="r" b="b" t="t" l="l"/>
              <a:pathLst>
                <a:path h="8260080" w="5114544">
                  <a:moveTo>
                    <a:pt x="0" y="852424"/>
                  </a:moveTo>
                  <a:cubicBezTo>
                    <a:pt x="0" y="381635"/>
                    <a:pt x="381635" y="0"/>
                    <a:pt x="852424" y="0"/>
                  </a:cubicBezTo>
                  <a:lnTo>
                    <a:pt x="4262120" y="0"/>
                  </a:lnTo>
                  <a:cubicBezTo>
                    <a:pt x="4732909" y="0"/>
                    <a:pt x="5114544" y="381635"/>
                    <a:pt x="5114544" y="852424"/>
                  </a:cubicBezTo>
                  <a:lnTo>
                    <a:pt x="5114544" y="7407656"/>
                  </a:lnTo>
                  <a:cubicBezTo>
                    <a:pt x="5114544" y="7878445"/>
                    <a:pt x="4732909" y="8260080"/>
                    <a:pt x="4262120" y="8260080"/>
                  </a:cubicBezTo>
                  <a:lnTo>
                    <a:pt x="852424" y="8260080"/>
                  </a:lnTo>
                  <a:cubicBezTo>
                    <a:pt x="381635" y="8260080"/>
                    <a:pt x="0" y="7878445"/>
                    <a:pt x="0" y="7407656"/>
                  </a:cubicBezTo>
                  <a:close/>
                </a:path>
              </a:pathLst>
            </a:custGeom>
            <a:solidFill>
              <a:srgbClr val="141B29"/>
            </a:solidFill>
            <a:ln w="22860" cap="sq">
              <a:solidFill>
                <a:srgbClr val="A855F7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477756" y="2508885"/>
            <a:ext cx="3401568" cy="578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A855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LAYER 3: MACHINE LEARNING &amp; INTELLIGENCE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1F5F9"/>
                </a:solidFill>
                <a:latin typeface="Calibri (MS)"/>
                <a:ea typeface="Calibri (MS)"/>
                <a:cs typeface="Calibri (MS)"/>
                <a:sym typeface="Calibri (MS)"/>
              </a:rPr>
              <a:t>• 1. Revenue Predictor: Multiple Linear Regression (R² = 0.894)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1F5F9"/>
                </a:solidFill>
                <a:latin typeface="Calibri (MS)"/>
                <a:ea typeface="Calibri (MS)"/>
                <a:cs typeface="Calibri (MS)"/>
                <a:sym typeface="Calibri (MS)"/>
              </a:rPr>
              <a:t>• 2. Customer Clustering: K-Means RFM (Champions, Regulars, At-Risk)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1F5F9"/>
                </a:solidFill>
                <a:latin typeface="Calibri (MS)"/>
                <a:ea typeface="Calibri (MS)"/>
                <a:cs typeface="Calibri (MS)"/>
                <a:sym typeface="Calibri (MS)"/>
              </a:rPr>
              <a:t>• 3. Loyalty Classifier: Decision Tree (94.6%) vs. Naive Bayes (82.4%)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1F5F9"/>
                </a:solidFill>
                <a:latin typeface="Calibri (MS)"/>
                <a:ea typeface="Calibri (MS)"/>
                <a:cs typeface="Calibri (MS)"/>
                <a:sym typeface="Calibri (MS)"/>
              </a:rPr>
              <a:t>• 4. Market Basket: Apriori &amp; FP-Growth (Lift up to 4.82x, Support 2.5%)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Feature Engineering &amp; 70/30 Train-Test Validation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Microservice API Endpoints (:5000/api/predict-*, /api/market-basket)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347954" y="2320290"/>
            <a:ext cx="3835908" cy="6195060"/>
            <a:chOff x="0" y="0"/>
            <a:chExt cx="5114544" cy="8260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14544" cy="8260080"/>
            </a:xfrm>
            <a:custGeom>
              <a:avLst/>
              <a:gdLst/>
              <a:ahLst/>
              <a:cxnLst/>
              <a:rect r="r" b="b" t="t" l="l"/>
              <a:pathLst>
                <a:path h="8260080" w="5114544">
                  <a:moveTo>
                    <a:pt x="0" y="852424"/>
                  </a:moveTo>
                  <a:cubicBezTo>
                    <a:pt x="0" y="381635"/>
                    <a:pt x="381635" y="0"/>
                    <a:pt x="852424" y="0"/>
                  </a:cubicBezTo>
                  <a:lnTo>
                    <a:pt x="4262120" y="0"/>
                  </a:lnTo>
                  <a:cubicBezTo>
                    <a:pt x="4732909" y="0"/>
                    <a:pt x="5114544" y="381635"/>
                    <a:pt x="5114544" y="852424"/>
                  </a:cubicBezTo>
                  <a:lnTo>
                    <a:pt x="5114544" y="7407656"/>
                  </a:lnTo>
                  <a:cubicBezTo>
                    <a:pt x="5114544" y="7878445"/>
                    <a:pt x="4732909" y="8260080"/>
                    <a:pt x="4262120" y="8260080"/>
                  </a:cubicBezTo>
                  <a:lnTo>
                    <a:pt x="852424" y="8260080"/>
                  </a:lnTo>
                  <a:cubicBezTo>
                    <a:pt x="381635" y="8260080"/>
                    <a:pt x="0" y="7878445"/>
                    <a:pt x="0" y="7407656"/>
                  </a:cubicBezTo>
                  <a:close/>
                </a:path>
              </a:pathLst>
            </a:custGeom>
            <a:solidFill>
              <a:srgbClr val="141B29"/>
            </a:solidFill>
            <a:ln w="22860" cap="sq">
              <a:solidFill>
                <a:srgbClr val="10B981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3565124" y="2508885"/>
            <a:ext cx="3401568" cy="578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0B98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LAYER 4: EXECUTIVE INTELLIGENCE HUB (/admin)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Capitalio Dark Glassmorphic Dashboard UI Shell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Interactive What-If Scenario Revenue Forecasting Sliders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2D Scatter Point Cloud &amp; RFM Customer Centroid Calculator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Normalized 2x2 Confusion Matrices &amp; Decision Tree Simulators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Market Basket Rule Explorer &amp; Cross-Sell Conversion Simulator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• Admin SKU &amp; Inventory Valuation CRUD Manager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85850" y="8698230"/>
            <a:ext cx="16115843" cy="982980"/>
            <a:chOff x="0" y="0"/>
            <a:chExt cx="21487790" cy="1310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87764" cy="1310640"/>
            </a:xfrm>
            <a:custGeom>
              <a:avLst/>
              <a:gdLst/>
              <a:ahLst/>
              <a:cxnLst/>
              <a:rect r="r" b="b" t="t" l="l"/>
              <a:pathLst>
                <a:path h="1310640" w="21487764">
                  <a:moveTo>
                    <a:pt x="0" y="218440"/>
                  </a:moveTo>
                  <a:cubicBezTo>
                    <a:pt x="0" y="97790"/>
                    <a:pt x="97790" y="0"/>
                    <a:pt x="218440" y="0"/>
                  </a:cubicBezTo>
                  <a:lnTo>
                    <a:pt x="21269325" y="0"/>
                  </a:lnTo>
                  <a:cubicBezTo>
                    <a:pt x="21389975" y="0"/>
                    <a:pt x="21487764" y="97790"/>
                    <a:pt x="21487764" y="218440"/>
                  </a:cubicBezTo>
                  <a:lnTo>
                    <a:pt x="21487764" y="1092200"/>
                  </a:lnTo>
                  <a:cubicBezTo>
                    <a:pt x="21487764" y="1212850"/>
                    <a:pt x="21389975" y="1310640"/>
                    <a:pt x="21269325" y="1310640"/>
                  </a:cubicBezTo>
                  <a:lnTo>
                    <a:pt x="218440" y="1310640"/>
                  </a:lnTo>
                  <a:cubicBezTo>
                    <a:pt x="97790" y="1310640"/>
                    <a:pt x="0" y="1212850"/>
                    <a:pt x="0" y="1092200"/>
                  </a:cubicBezTo>
                  <a:close/>
                </a:path>
              </a:pathLst>
            </a:custGeom>
            <a:solidFill>
              <a:srgbClr val="101827"/>
            </a:solidFill>
            <a:ln w="22860" cap="sq">
              <a:solidFill>
                <a:srgbClr val="3B82F6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463040" y="8846058"/>
            <a:ext cx="15361463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CLOSED-LOOP FEEDBACK:  Storefront Transactions  →  ETL Ingestion  →  Star Schema OLAP  →  ML Mining  →  Admin Hub  →  Personalized Storefront Bundles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-7144"/>
            <a:ext cx="18301830" cy="10301288"/>
            <a:chOff x="0" y="0"/>
            <a:chExt cx="24402440" cy="13735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35050"/>
            </a:xfrm>
            <a:custGeom>
              <a:avLst/>
              <a:gdLst/>
              <a:ahLst/>
              <a:cxnLst/>
              <a:rect r="r" b="b" t="t" l="l"/>
              <a:pathLst>
                <a:path h="1373505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35050"/>
                  </a:lnTo>
                  <a:lnTo>
                    <a:pt x="0" y="13735050"/>
                  </a:lnTo>
                  <a:close/>
                </a:path>
              </a:pathLst>
            </a:custGeom>
            <a:solidFill>
              <a:srgbClr val="0B0F17"/>
            </a:solidFill>
            <a:ln w="14288" cap="sq">
              <a:solidFill>
                <a:srgbClr val="0B0F17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97280" y="520065"/>
            <a:ext cx="16092983" cy="153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60A5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PAGE 4 • EXECUTION &amp; FEASIBILITY</a:t>
            </a:r>
          </a:p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Implementation Plan: Technology Stack &amp; Step-Wise Logic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77736" y="678656"/>
            <a:ext cx="974407" cy="494347"/>
            <a:chOff x="0" y="0"/>
            <a:chExt cx="1299210" cy="6591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9210" cy="659130"/>
            </a:xfrm>
            <a:custGeom>
              <a:avLst/>
              <a:gdLst/>
              <a:ahLst/>
              <a:cxnLst/>
              <a:rect r="r" b="b" t="t" l="l"/>
              <a:pathLst>
                <a:path h="659130" w="12992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1189355" y="0"/>
                  </a:lnTo>
                  <a:cubicBezTo>
                    <a:pt x="1250061" y="0"/>
                    <a:pt x="1299210" y="49149"/>
                    <a:pt x="1299210" y="109855"/>
                  </a:cubicBezTo>
                  <a:lnTo>
                    <a:pt x="1299210" y="549275"/>
                  </a:lnTo>
                  <a:cubicBezTo>
                    <a:pt x="1299210" y="609981"/>
                    <a:pt x="1250061" y="659130"/>
                    <a:pt x="1189355" y="659130"/>
                  </a:cubicBezTo>
                  <a:lnTo>
                    <a:pt x="109855" y="659130"/>
                  </a:lnTo>
                  <a:cubicBezTo>
                    <a:pt x="49149" y="659130"/>
                    <a:pt x="0" y="609981"/>
                    <a:pt x="0" y="549275"/>
                  </a:cubicBezTo>
                  <a:close/>
                </a:path>
              </a:pathLst>
            </a:custGeom>
            <a:solidFill>
              <a:srgbClr val="141B29"/>
            </a:solidFill>
            <a:ln w="14288" cap="sq">
              <a:solidFill>
                <a:srgbClr val="26324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299210" cy="687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60A5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4/5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5850" y="2320290"/>
            <a:ext cx="7799832" cy="3451860"/>
            <a:chOff x="0" y="0"/>
            <a:chExt cx="10399776" cy="4602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99776" cy="4602480"/>
            </a:xfrm>
            <a:custGeom>
              <a:avLst/>
              <a:gdLst/>
              <a:ahLst/>
              <a:cxnLst/>
              <a:rect r="r" b="b" t="t" l="l"/>
              <a:pathLst>
                <a:path h="4602480" w="10399776">
                  <a:moveTo>
                    <a:pt x="0" y="767080"/>
                  </a:moveTo>
                  <a:cubicBezTo>
                    <a:pt x="0" y="343408"/>
                    <a:pt x="343408" y="0"/>
                    <a:pt x="767080" y="0"/>
                  </a:cubicBezTo>
                  <a:lnTo>
                    <a:pt x="9632696" y="0"/>
                  </a:lnTo>
                  <a:cubicBezTo>
                    <a:pt x="10056368" y="0"/>
                    <a:pt x="10399776" y="343408"/>
                    <a:pt x="10399776" y="767080"/>
                  </a:cubicBezTo>
                  <a:lnTo>
                    <a:pt x="10399776" y="3835400"/>
                  </a:lnTo>
                  <a:cubicBezTo>
                    <a:pt x="10399776" y="4259072"/>
                    <a:pt x="10056368" y="4602480"/>
                    <a:pt x="9632696" y="4602480"/>
                  </a:cubicBezTo>
                  <a:lnTo>
                    <a:pt x="767080" y="4602480"/>
                  </a:lnTo>
                  <a:cubicBezTo>
                    <a:pt x="343408" y="4602480"/>
                    <a:pt x="0" y="4259072"/>
                    <a:pt x="0" y="3835400"/>
                  </a:cubicBezTo>
                  <a:close/>
                </a:path>
              </a:pathLst>
            </a:custGeom>
            <a:solidFill>
              <a:srgbClr val="141B29"/>
            </a:solidFill>
            <a:ln w="22860" cap="sq">
              <a:solidFill>
                <a:srgbClr val="26324D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463040" y="2535555"/>
            <a:ext cx="7045452" cy="297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60A5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Technology Stack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Frontend Layer: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React 19, TypeScript, Tailwind CSS, Lucide Icons, Recharts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Backend API: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3.11+, Flask, Flask-CORS, Flask-SQLAlchemy REST APIs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Database &amp; DW: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MySQL 8.0 (Operational OLTP + Star Schema Fact/Dimensions) + SQLite fallback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Data Engineering &amp; ML: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Pandas, NumPy, SQLAlchemy, scikit-learn, mlxtend (Apriori)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97746" y="2320290"/>
            <a:ext cx="7799832" cy="3451860"/>
            <a:chOff x="0" y="0"/>
            <a:chExt cx="10399776" cy="4602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99776" cy="4602480"/>
            </a:xfrm>
            <a:custGeom>
              <a:avLst/>
              <a:gdLst/>
              <a:ahLst/>
              <a:cxnLst/>
              <a:rect r="r" b="b" t="t" l="l"/>
              <a:pathLst>
                <a:path h="4602480" w="10399776">
                  <a:moveTo>
                    <a:pt x="0" y="767080"/>
                  </a:moveTo>
                  <a:cubicBezTo>
                    <a:pt x="0" y="343408"/>
                    <a:pt x="343408" y="0"/>
                    <a:pt x="767080" y="0"/>
                  </a:cubicBezTo>
                  <a:lnTo>
                    <a:pt x="9632696" y="0"/>
                  </a:lnTo>
                  <a:cubicBezTo>
                    <a:pt x="10056368" y="0"/>
                    <a:pt x="10399776" y="343408"/>
                    <a:pt x="10399776" y="767080"/>
                  </a:cubicBezTo>
                  <a:lnTo>
                    <a:pt x="10399776" y="3835400"/>
                  </a:lnTo>
                  <a:cubicBezTo>
                    <a:pt x="10399776" y="4259072"/>
                    <a:pt x="10056368" y="4602480"/>
                    <a:pt x="9632696" y="4602480"/>
                  </a:cubicBezTo>
                  <a:lnTo>
                    <a:pt x="767080" y="4602480"/>
                  </a:lnTo>
                  <a:cubicBezTo>
                    <a:pt x="343408" y="4602480"/>
                    <a:pt x="0" y="4259072"/>
                    <a:pt x="0" y="3835400"/>
                  </a:cubicBezTo>
                  <a:close/>
                </a:path>
              </a:pathLst>
            </a:custGeom>
            <a:solidFill>
              <a:srgbClr val="141B29"/>
            </a:solidFill>
            <a:ln w="22860" cap="sq">
              <a:solidFill>
                <a:srgbClr val="26324D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774936" y="2535555"/>
            <a:ext cx="7045452" cy="297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Step-Wise Execution Logic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Step 1 (Ingest &amp; Clean):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ETL extracts raw rows, drops invalid keys, normalizes timestamps, and builds dimensions.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Step 2 (Warehouse Loading):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Loads Sales Fact table with surrogate keys linking to Time, Product, Customer, and Location.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Step 3 (ML Mining):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Executes MLR regression, K-Means RFM clustering, Decision Tree training, and Apriori rule generation.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Step 4 (Closed-Loop Serve):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REST endpoints deliver metrics to Admin Hub and inject dynamic bundles into the Storefront.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85850" y="6023610"/>
            <a:ext cx="7799832" cy="3589020"/>
            <a:chOff x="0" y="0"/>
            <a:chExt cx="10399776" cy="478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99776" cy="4785360"/>
            </a:xfrm>
            <a:custGeom>
              <a:avLst/>
              <a:gdLst/>
              <a:ahLst/>
              <a:cxnLst/>
              <a:rect r="r" b="b" t="t" l="l"/>
              <a:pathLst>
                <a:path h="4785360" w="10399776">
                  <a:moveTo>
                    <a:pt x="0" y="797560"/>
                  </a:moveTo>
                  <a:cubicBezTo>
                    <a:pt x="0" y="357124"/>
                    <a:pt x="357124" y="0"/>
                    <a:pt x="797560" y="0"/>
                  </a:cubicBezTo>
                  <a:lnTo>
                    <a:pt x="9602216" y="0"/>
                  </a:lnTo>
                  <a:cubicBezTo>
                    <a:pt x="10042652" y="0"/>
                    <a:pt x="10399776" y="357124"/>
                    <a:pt x="10399776" y="797560"/>
                  </a:cubicBezTo>
                  <a:lnTo>
                    <a:pt x="10399776" y="3987800"/>
                  </a:lnTo>
                  <a:cubicBezTo>
                    <a:pt x="10399776" y="4428236"/>
                    <a:pt x="10042652" y="4785360"/>
                    <a:pt x="9602216" y="4785360"/>
                  </a:cubicBezTo>
                  <a:lnTo>
                    <a:pt x="797560" y="4785360"/>
                  </a:lnTo>
                  <a:cubicBezTo>
                    <a:pt x="357124" y="4785360"/>
                    <a:pt x="0" y="4428236"/>
                    <a:pt x="0" y="3987800"/>
                  </a:cubicBezTo>
                  <a:close/>
                </a:path>
              </a:pathLst>
            </a:custGeom>
            <a:solidFill>
              <a:srgbClr val="141B29"/>
            </a:solidFill>
            <a:ln w="22860" cap="sq">
              <a:solidFill>
                <a:srgbClr val="26324D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463040" y="6238875"/>
            <a:ext cx="7045452" cy="311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0B98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Feasibility Analysis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High Scalability: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Star Schema handles millions of transactions with indexed star joins; isolated OLTP ensures storefront zero-lag latency.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Deterministic Latency: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Trained ML models cached in memory respond in &lt;15ms; heavy model re-training is scheduled as asynchronous batch jobs.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Lightweight Footprint: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No proprietary enterprise servers required; runs cost-effectively on standard cloud VPS or containerized Docker clusters.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97746" y="6023610"/>
            <a:ext cx="7799832" cy="3589020"/>
            <a:chOff x="0" y="0"/>
            <a:chExt cx="10399776" cy="478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99776" cy="4785360"/>
            </a:xfrm>
            <a:custGeom>
              <a:avLst/>
              <a:gdLst/>
              <a:ahLst/>
              <a:cxnLst/>
              <a:rect r="r" b="b" t="t" l="l"/>
              <a:pathLst>
                <a:path h="4785360" w="10399776">
                  <a:moveTo>
                    <a:pt x="0" y="797560"/>
                  </a:moveTo>
                  <a:cubicBezTo>
                    <a:pt x="0" y="357124"/>
                    <a:pt x="357124" y="0"/>
                    <a:pt x="797560" y="0"/>
                  </a:cubicBezTo>
                  <a:lnTo>
                    <a:pt x="9602216" y="0"/>
                  </a:lnTo>
                  <a:cubicBezTo>
                    <a:pt x="10042652" y="0"/>
                    <a:pt x="10399776" y="357124"/>
                    <a:pt x="10399776" y="797560"/>
                  </a:cubicBezTo>
                  <a:lnTo>
                    <a:pt x="10399776" y="3987800"/>
                  </a:lnTo>
                  <a:cubicBezTo>
                    <a:pt x="10399776" y="4428236"/>
                    <a:pt x="10042652" y="4785360"/>
                    <a:pt x="9602216" y="4785360"/>
                  </a:cubicBezTo>
                  <a:lnTo>
                    <a:pt x="797560" y="4785360"/>
                  </a:lnTo>
                  <a:cubicBezTo>
                    <a:pt x="357124" y="4785360"/>
                    <a:pt x="0" y="4428236"/>
                    <a:pt x="0" y="3987800"/>
                  </a:cubicBezTo>
                  <a:close/>
                </a:path>
              </a:pathLst>
            </a:custGeom>
            <a:solidFill>
              <a:srgbClr val="141B29"/>
            </a:solidFill>
            <a:ln w="22860" cap="sq">
              <a:solidFill>
                <a:srgbClr val="26324D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774936" y="6238875"/>
            <a:ext cx="7045452" cy="311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A855F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Phased Execution Roadmap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Phase 1 • Foundation (Done):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Design MySQL Star Schema, develop Python ETL data pipeline, and scaffold base Flask REST APIs.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Phase 2 • Intelligence (Done):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Build scikit-learn models (MLR, K-Means, Decision Tree) and mlxtend Apriori rule generation.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Phase 3 • Storefront &amp; Hub (Done):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Deploy Capitalio glassmorphic React storefront, What-If simulators, and SKU management.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Phase 4 • Enterprise Horizon: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Integrate Apache Kafka for real-time stream ETL, Razorpay/Stripe, and automated CI/CD.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-7144"/>
            <a:ext cx="18301830" cy="10301288"/>
            <a:chOff x="0" y="0"/>
            <a:chExt cx="24402440" cy="13735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35050"/>
            </a:xfrm>
            <a:custGeom>
              <a:avLst/>
              <a:gdLst/>
              <a:ahLst/>
              <a:cxnLst/>
              <a:rect r="r" b="b" t="t" l="l"/>
              <a:pathLst>
                <a:path h="1373505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35050"/>
                  </a:lnTo>
                  <a:lnTo>
                    <a:pt x="0" y="13735050"/>
                  </a:lnTo>
                  <a:close/>
                </a:path>
              </a:pathLst>
            </a:custGeom>
            <a:solidFill>
              <a:srgbClr val="0B0F17"/>
            </a:solidFill>
            <a:ln w="14288" cap="sq">
              <a:solidFill>
                <a:srgbClr val="0B0F17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97280" y="520065"/>
            <a:ext cx="16092983" cy="153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60A5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PAGE 5 • STRATEGIC OUTCOMES</a:t>
            </a:r>
          </a:p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Impact, Feasibility, Future Scope &amp; Conclusion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77736" y="678656"/>
            <a:ext cx="974407" cy="494347"/>
            <a:chOff x="0" y="0"/>
            <a:chExt cx="1299210" cy="6591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9210" cy="659130"/>
            </a:xfrm>
            <a:custGeom>
              <a:avLst/>
              <a:gdLst/>
              <a:ahLst/>
              <a:cxnLst/>
              <a:rect r="r" b="b" t="t" l="l"/>
              <a:pathLst>
                <a:path h="659130" w="12992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1189355" y="0"/>
                  </a:lnTo>
                  <a:cubicBezTo>
                    <a:pt x="1250061" y="0"/>
                    <a:pt x="1299210" y="49149"/>
                    <a:pt x="1299210" y="109855"/>
                  </a:cubicBezTo>
                  <a:lnTo>
                    <a:pt x="1299210" y="549275"/>
                  </a:lnTo>
                  <a:cubicBezTo>
                    <a:pt x="1299210" y="609981"/>
                    <a:pt x="1250061" y="659130"/>
                    <a:pt x="1189355" y="659130"/>
                  </a:cubicBezTo>
                  <a:lnTo>
                    <a:pt x="109855" y="659130"/>
                  </a:lnTo>
                  <a:cubicBezTo>
                    <a:pt x="49149" y="659130"/>
                    <a:pt x="0" y="609981"/>
                    <a:pt x="0" y="549275"/>
                  </a:cubicBezTo>
                  <a:close/>
                </a:path>
              </a:pathLst>
            </a:custGeom>
            <a:solidFill>
              <a:srgbClr val="141B29"/>
            </a:solidFill>
            <a:ln w="14288" cap="sq">
              <a:solidFill>
                <a:srgbClr val="26324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299210" cy="687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60A5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5/5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5850" y="2320290"/>
            <a:ext cx="5015484" cy="5920740"/>
            <a:chOff x="0" y="0"/>
            <a:chExt cx="6687312" cy="7894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87312" cy="7894320"/>
            </a:xfrm>
            <a:custGeom>
              <a:avLst/>
              <a:gdLst/>
              <a:ahLst/>
              <a:cxnLst/>
              <a:rect r="r" b="b" t="t" l="l"/>
              <a:pathLst>
                <a:path h="7894320" w="6687312">
                  <a:moveTo>
                    <a:pt x="0" y="1114552"/>
                  </a:moveTo>
                  <a:cubicBezTo>
                    <a:pt x="0" y="498983"/>
                    <a:pt x="498983" y="0"/>
                    <a:pt x="1114552" y="0"/>
                  </a:cubicBezTo>
                  <a:lnTo>
                    <a:pt x="5572760" y="0"/>
                  </a:lnTo>
                  <a:cubicBezTo>
                    <a:pt x="6188329" y="0"/>
                    <a:pt x="6687312" y="498983"/>
                    <a:pt x="6687312" y="1114552"/>
                  </a:cubicBezTo>
                  <a:lnTo>
                    <a:pt x="6687312" y="6779768"/>
                  </a:lnTo>
                  <a:cubicBezTo>
                    <a:pt x="6687312" y="7395338"/>
                    <a:pt x="6188329" y="7894320"/>
                    <a:pt x="5572760" y="7894320"/>
                  </a:cubicBezTo>
                  <a:lnTo>
                    <a:pt x="1114552" y="7894320"/>
                  </a:lnTo>
                  <a:cubicBezTo>
                    <a:pt x="498983" y="7894320"/>
                    <a:pt x="0" y="7395337"/>
                    <a:pt x="0" y="6779768"/>
                  </a:cubicBezTo>
                  <a:close/>
                </a:path>
              </a:pathLst>
            </a:custGeom>
            <a:solidFill>
              <a:srgbClr val="141B29"/>
            </a:solidFill>
            <a:ln w="22860" cap="sq">
              <a:solidFill>
                <a:srgbClr val="26324D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463040" y="2526030"/>
            <a:ext cx="4261104" cy="545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60A5F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Target Users &amp; Impact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Store Managers / Merchandisers: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+18% to 25% Average Order Value (AOV) via data-driven affinity bundles and automated cross-sells.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Marketing &amp; CRM Executives: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30% reduction in customer churn through early Decision Tree retention flags and RFM win-back email triggers.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C-Suite &amp; Financial Officers: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Accurate quarterly cash-flow forecasting using Multiple Linear Regression What-If models with 0.894 R² precision.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End Consumers: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Personalized, friction-free shopping experience with relevant bundles and automated VIP loyalty savings.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627114" y="2320290"/>
            <a:ext cx="5015484" cy="5920740"/>
            <a:chOff x="0" y="0"/>
            <a:chExt cx="6687312" cy="7894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87312" cy="7894320"/>
            </a:xfrm>
            <a:custGeom>
              <a:avLst/>
              <a:gdLst/>
              <a:ahLst/>
              <a:cxnLst/>
              <a:rect r="r" b="b" t="t" l="l"/>
              <a:pathLst>
                <a:path h="7894320" w="6687312">
                  <a:moveTo>
                    <a:pt x="0" y="1114552"/>
                  </a:moveTo>
                  <a:cubicBezTo>
                    <a:pt x="0" y="498983"/>
                    <a:pt x="498983" y="0"/>
                    <a:pt x="1114552" y="0"/>
                  </a:cubicBezTo>
                  <a:lnTo>
                    <a:pt x="5572760" y="0"/>
                  </a:lnTo>
                  <a:cubicBezTo>
                    <a:pt x="6188329" y="0"/>
                    <a:pt x="6687312" y="498983"/>
                    <a:pt x="6687312" y="1114552"/>
                  </a:cubicBezTo>
                  <a:lnTo>
                    <a:pt x="6687312" y="6779768"/>
                  </a:lnTo>
                  <a:cubicBezTo>
                    <a:pt x="6687312" y="7395338"/>
                    <a:pt x="6188329" y="7894320"/>
                    <a:pt x="5572760" y="7894320"/>
                  </a:cubicBezTo>
                  <a:lnTo>
                    <a:pt x="1114552" y="7894320"/>
                  </a:lnTo>
                  <a:cubicBezTo>
                    <a:pt x="498983" y="7894320"/>
                    <a:pt x="0" y="7395337"/>
                    <a:pt x="0" y="6779768"/>
                  </a:cubicBezTo>
                  <a:close/>
                </a:path>
              </a:pathLst>
            </a:custGeom>
            <a:solidFill>
              <a:srgbClr val="141B29"/>
            </a:solidFill>
            <a:ln w="22860" cap="sq">
              <a:solidFill>
                <a:srgbClr val="26324D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7004304" y="2526030"/>
            <a:ext cx="4261104" cy="545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Financial Sustainability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Open-Source Economic Stack: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100% free of recurring enterprise per-seat licensing fees (built on React, Python, Flask, MySQL).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High ROI for Retailers: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A 3.42x average bundle lift directly increases gross margins without requiring additional ad spend.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Tiered Monetization Model: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Can be offered to retail brands as a modular B2B SaaS platform (Basic E-Commerce, Pro ML Engine, Enterprise Custom ETL).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Low Infrastructure Overhead: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Operates on standard cloud hardware ($40-$80/month) with decoupled asynchronous analytics compute.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168378" y="2320290"/>
            <a:ext cx="5015484" cy="5920740"/>
            <a:chOff x="0" y="0"/>
            <a:chExt cx="6687312" cy="78943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87312" cy="7894320"/>
            </a:xfrm>
            <a:custGeom>
              <a:avLst/>
              <a:gdLst/>
              <a:ahLst/>
              <a:cxnLst/>
              <a:rect r="r" b="b" t="t" l="l"/>
              <a:pathLst>
                <a:path h="7894320" w="6687312">
                  <a:moveTo>
                    <a:pt x="0" y="1114552"/>
                  </a:moveTo>
                  <a:cubicBezTo>
                    <a:pt x="0" y="498983"/>
                    <a:pt x="498983" y="0"/>
                    <a:pt x="1114552" y="0"/>
                  </a:cubicBezTo>
                  <a:lnTo>
                    <a:pt x="5572760" y="0"/>
                  </a:lnTo>
                  <a:cubicBezTo>
                    <a:pt x="6188329" y="0"/>
                    <a:pt x="6687312" y="498983"/>
                    <a:pt x="6687312" y="1114552"/>
                  </a:cubicBezTo>
                  <a:lnTo>
                    <a:pt x="6687312" y="6779768"/>
                  </a:lnTo>
                  <a:cubicBezTo>
                    <a:pt x="6687312" y="7395338"/>
                    <a:pt x="6188329" y="7894320"/>
                    <a:pt x="5572760" y="7894320"/>
                  </a:cubicBezTo>
                  <a:lnTo>
                    <a:pt x="1114552" y="7894320"/>
                  </a:lnTo>
                  <a:cubicBezTo>
                    <a:pt x="498983" y="7894320"/>
                    <a:pt x="0" y="7395337"/>
                    <a:pt x="0" y="6779768"/>
                  </a:cubicBezTo>
                  <a:close/>
                </a:path>
              </a:pathLst>
            </a:custGeom>
            <a:solidFill>
              <a:srgbClr val="141B29"/>
            </a:solidFill>
            <a:ln w="22860" cap="sq">
              <a:solidFill>
                <a:srgbClr val="26324D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545568" y="2526030"/>
            <a:ext cx="4261104" cy="545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0B98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Scope &amp; Expansion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Real-Time Streaming ETL: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Transition from batch loading to Apache Kafka / Apache Flink for real-time sub-second clickstream event aggregation.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Deep Learning Computer Vision: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Incorporate visual similarity search allowing shoppers to upload photos to find matching inventory items.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Generative AI Shopping Assistant: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Deploy an LLM conversational shopping copilot trained on customer RFM personas and inventory embeddings.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1F5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Multi-Tenant Cloud SaaS: </a:t>
            </a:r>
            <a:r>
              <a:rPr lang="en-US" sz="1500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Containerize architecture using Docker and Kubernetes to serve multi-brand retail conglomerates.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85850" y="8423910"/>
            <a:ext cx="16115843" cy="1257300"/>
            <a:chOff x="0" y="0"/>
            <a:chExt cx="21487790" cy="167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487764" cy="1676400"/>
            </a:xfrm>
            <a:custGeom>
              <a:avLst/>
              <a:gdLst/>
              <a:ahLst/>
              <a:cxnLst/>
              <a:rect r="r" b="b" t="t" l="l"/>
              <a:pathLst>
                <a:path h="1676400" w="21487764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21208364" y="0"/>
                  </a:lnTo>
                  <a:cubicBezTo>
                    <a:pt x="21362670" y="0"/>
                    <a:pt x="21487764" y="125095"/>
                    <a:pt x="21487764" y="279400"/>
                  </a:cubicBezTo>
                  <a:lnTo>
                    <a:pt x="21487764" y="1397000"/>
                  </a:lnTo>
                  <a:cubicBezTo>
                    <a:pt x="21487764" y="1551305"/>
                    <a:pt x="21362670" y="1676400"/>
                    <a:pt x="21208364" y="1676400"/>
                  </a:cubicBezTo>
                  <a:lnTo>
                    <a:pt x="279400" y="1676400"/>
                  </a:lnTo>
                  <a:cubicBezTo>
                    <a:pt x="125095" y="1676400"/>
                    <a:pt x="0" y="1551305"/>
                    <a:pt x="0" y="1397000"/>
                  </a:cubicBezTo>
                  <a:close/>
                </a:path>
              </a:pathLst>
            </a:custGeom>
            <a:solidFill>
              <a:srgbClr val="101827"/>
            </a:solidFill>
            <a:ln w="22860" cap="sq">
              <a:solidFill>
                <a:srgbClr val="10B981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531620" y="8580120"/>
            <a:ext cx="15224303" cy="90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0B98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 (Brief Summary)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1F5F9"/>
                </a:solidFill>
                <a:latin typeface="Calibri (MS)"/>
                <a:ea typeface="Calibri (MS)"/>
                <a:cs typeface="Calibri (MS)"/>
                <a:sym typeface="Calibri (MS)"/>
              </a:rPr>
              <a:t>The Omnichannel Retail &amp; Customer Intelligence Hub successfully proves that unifying transactional e-commerce with a Star Schema Data Warehouse and actionable Machine Learning delivers measurable commercial advantage. By replacing guesswork with predictive algorithms and closed-loop merchandising, the platform establishes a scalable, cost-effective blueprint for modern data-driven retail.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DAHYP45wLhg</dc:identifier>
  <dcterms:modified xsi:type="dcterms:W3CDTF">2011-08-01T06:04:30Z</dcterms:modified>
  <cp:revision>1</cp:revision>
  <dc:title>Omnichannel_Retail_Hub_Presentation.pptx</dc:title>
</cp:coreProperties>
</file>